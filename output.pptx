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Oval 1"/>
          <p:cNvSpPr/>
          <p:nvPr/>
        </p:nvSpPr>
        <p:spPr>
          <a:xfrm>
            <a:off x="9601200" y="-1097280"/>
            <a:ext cx="4114800" cy="4114800"/>
          </a:xfrm>
          <a:prstGeom prst="ellipse">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457200"/>
            <a:ext cx="2560320" cy="25603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943600"/>
            <a:ext cx="3200400" cy="914400"/>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92240"/>
            <a:ext cx="548640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92608" y="457200"/>
            <a:ext cx="54864" cy="53035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85800"/>
            <a:ext cx="8229600" cy="365760"/>
          </a:xfrm>
          <a:prstGeom prst="rect">
            <a:avLst/>
          </a:prstGeom>
          <a:noFill/>
        </p:spPr>
        <p:txBody>
          <a:bodyPr wrap="square">
            <a:spAutoFit/>
          </a:bodyPr>
          <a:lstStyle/>
          <a:p>
            <a:pPr algn="l"/>
            <a:r>
              <a:rPr sz="900" b="1" i="0">
                <a:solidFill>
                  <a:srgbClr val="00B4D8"/>
                </a:solidFill>
                <a:latin typeface="Calibri"/>
              </a:rPr>
              <a:t>RESEARCH PAPER</a:t>
            </a:r>
          </a:p>
        </p:txBody>
      </p:sp>
      <p:sp>
        <p:nvSpPr>
          <p:cNvPr id="8" name="TextBox 7"/>
          <p:cNvSpPr txBox="1"/>
          <p:nvPr/>
        </p:nvSpPr>
        <p:spPr>
          <a:xfrm>
            <a:off x="502920" y="1143000"/>
            <a:ext cx="8686800" cy="2377440"/>
          </a:xfrm>
          <a:prstGeom prst="rect">
            <a:avLst/>
          </a:prstGeom>
          <a:noFill/>
        </p:spPr>
        <p:txBody>
          <a:bodyPr wrap="square">
            <a:spAutoFit/>
          </a:bodyPr>
          <a:lstStyle/>
          <a:p>
            <a:pPr algn="l"/>
            <a:r>
              <a:rPr sz="3600" b="1" i="0">
                <a:solidFill>
                  <a:srgbClr val="FFFFFF"/>
                </a:solidFill>
                <a:latin typeface="Calibri"/>
              </a:rPr>
              <a:t>Software Refactoring</a:t>
            </a:r>
          </a:p>
        </p:txBody>
      </p:sp>
      <p:sp>
        <p:nvSpPr>
          <p:cNvPr id="9" name="Rectangle 8"/>
          <p:cNvSpPr/>
          <p:nvPr/>
        </p:nvSpPr>
        <p:spPr>
          <a:xfrm>
            <a:off x="502920" y="3657600"/>
            <a:ext cx="27432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686800" cy="548640"/>
          </a:xfrm>
          <a:prstGeom prst="rect">
            <a:avLst/>
          </a:prstGeom>
          <a:noFill/>
        </p:spPr>
        <p:txBody>
          <a:bodyPr wrap="square">
            <a:spAutoFit/>
          </a:bodyPr>
          <a:lstStyle/>
          <a:p>
            <a:pPr algn="l"/>
            <a:r>
              <a:rPr sz="1500" b="0" i="0">
                <a:solidFill>
                  <a:srgbClr val="90E0EF"/>
                </a:solidFill>
                <a:latin typeface="Calibri"/>
              </a:rPr>
              <a:t>Improving Code Quality and Maintainability in Software Systems</a:t>
            </a:r>
          </a:p>
        </p:txBody>
      </p:sp>
      <p:sp>
        <p:nvSpPr>
          <p:cNvPr id="11" name="TextBox 10"/>
          <p:cNvSpPr txBox="1"/>
          <p:nvPr/>
        </p:nvSpPr>
        <p:spPr>
          <a:xfrm>
            <a:off x="502920" y="4526280"/>
            <a:ext cx="8686800" cy="1737360"/>
          </a:xfrm>
          <a:prstGeom prst="rect">
            <a:avLst/>
          </a:prstGeom>
          <a:noFill/>
        </p:spPr>
        <p:txBody>
          <a:bodyPr wrap="square">
            <a:spAutoFit/>
          </a:bodyPr>
          <a:lstStyle/>
          <a:p>
            <a:pPr algn="l"/>
            <a:r>
              <a:rPr sz="1100" b="0" i="0">
                <a:solidFill>
                  <a:srgbClr val="AABBCC"/>
                </a:solidFill>
                <a:latin typeface="Calibri"/>
              </a:rPr>
              <a:t>This paper explores software refactoring, a structured practice to enhance internal code quality without altering external behavior. It identifies common code smells and technical debt as key drivers for refactoring. The document discusses various techniques, challenges, and the role of modern tools, concluding that regular refactoring is essential for sustainable software development.</a:t>
            </a:r>
          </a:p>
        </p:txBody>
      </p:sp>
      <p:sp>
        <p:nvSpPr>
          <p:cNvPr id="12" name="TextBox 11"/>
          <p:cNvSpPr txBox="1"/>
          <p:nvPr/>
        </p:nvSpPr>
        <p:spPr>
          <a:xfrm>
            <a:off x="274320" y="6556248"/>
            <a:ext cx="5486400" cy="256032"/>
          </a:xfrm>
          <a:prstGeom prst="rect">
            <a:avLst/>
          </a:prstGeom>
          <a:noFill/>
        </p:spPr>
        <p:txBody>
          <a:bodyPr wrap="square">
            <a:spAutoFit/>
          </a:bodyPr>
          <a:lstStyle/>
          <a:p>
            <a:pPr algn="l"/>
            <a:r>
              <a:rPr sz="900" b="0" i="0">
                <a:solidFill>
                  <a:srgbClr val="0D1B2A"/>
                </a:solidFill>
                <a:latin typeface="Calibri"/>
              </a:rPr>
              <a:t>AI-Generated  •  Google Gemini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8046720" y="0"/>
            <a:ext cx="4142232" cy="6858000"/>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097280"/>
            <a:ext cx="3200400" cy="3200400"/>
          </a:xfrm>
          <a:prstGeom prst="ellipse">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78240" y="2194560"/>
            <a:ext cx="2286000" cy="914400"/>
          </a:xfrm>
          <a:prstGeom prst="rect">
            <a:avLst/>
          </a:prstGeom>
          <a:noFill/>
        </p:spPr>
        <p:txBody>
          <a:bodyPr wrap="square">
            <a:spAutoFit/>
          </a:bodyPr>
          <a:lstStyle/>
          <a:p>
            <a:pPr algn="ctr"/>
            <a:r>
              <a:rPr sz="3600" b="1" i="0">
                <a:solidFill>
                  <a:srgbClr val="00B4D8"/>
                </a:solidFill>
                <a:latin typeface="Calibri"/>
              </a:rPr>
              <a:t>&lt; /&gt;</a:t>
            </a:r>
          </a:p>
        </p:txBody>
      </p:sp>
      <p:sp>
        <p:nvSpPr>
          <p:cNvPr id="5" name="Rectangle 4"/>
          <p:cNvSpPr/>
          <p:nvPr/>
        </p:nvSpPr>
        <p:spPr>
          <a:xfrm>
            <a:off x="8229600" y="4754880"/>
            <a:ext cx="2834640" cy="13716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4846320"/>
            <a:ext cx="2743200" cy="731520"/>
          </a:xfrm>
          <a:prstGeom prst="rect">
            <a:avLst/>
          </a:prstGeom>
          <a:noFill/>
        </p:spPr>
        <p:txBody>
          <a:bodyPr wrap="square">
            <a:spAutoFit/>
          </a:bodyPr>
          <a:lstStyle/>
          <a:p>
            <a:pPr algn="ctr"/>
            <a:r>
              <a:rPr sz="2200" b="1" i="0">
                <a:solidFill>
                  <a:srgbClr val="0D1B2A"/>
                </a:solidFill>
                <a:latin typeface="Calibri"/>
              </a:rPr>
              <a:t>50-90% of total software cost is incurred during maintenance</a:t>
            </a:r>
          </a:p>
        </p:txBody>
      </p:sp>
      <p:sp>
        <p:nvSpPr>
          <p:cNvPr id="7" name="TextBox 6"/>
          <p:cNvSpPr txBox="1"/>
          <p:nvPr/>
        </p:nvSpPr>
        <p:spPr>
          <a:xfrm>
            <a:off x="8275320" y="5532120"/>
            <a:ext cx="2743200" cy="365760"/>
          </a:xfrm>
          <a:prstGeom prst="rect">
            <a:avLst/>
          </a:prstGeom>
          <a:noFill/>
        </p:spPr>
        <p:txBody>
          <a:bodyPr wrap="square">
            <a:spAutoFit/>
          </a:bodyPr>
          <a:lstStyle/>
          <a:p>
            <a:pPr algn="ctr"/>
            <a:r>
              <a:rPr sz="900" b="1" i="0">
                <a:solidFill>
                  <a:srgbClr val="0D1B2A"/>
                </a:solidFill>
                <a:latin typeface="Calibri"/>
              </a:rPr>
              <a:t>KEY STAT</a:t>
            </a:r>
          </a:p>
        </p:txBody>
      </p:sp>
      <p:sp>
        <p:nvSpPr>
          <p:cNvPr id="8" name="Rectangle 7"/>
          <p:cNvSpPr/>
          <p:nvPr/>
        </p:nvSpPr>
        <p:spPr>
          <a:xfrm>
            <a:off x="10881360" y="182880"/>
            <a:ext cx="100584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201168"/>
            <a:ext cx="1005840" cy="329184"/>
          </a:xfrm>
          <a:prstGeom prst="rect">
            <a:avLst/>
          </a:prstGeom>
          <a:noFill/>
        </p:spPr>
        <p:txBody>
          <a:bodyPr wrap="square">
            <a:spAutoFit/>
          </a:bodyPr>
          <a:lstStyle/>
          <a:p>
            <a:pPr algn="ctr"/>
            <a:r>
              <a:rPr sz="1100" b="1" i="0">
                <a:solidFill>
                  <a:srgbClr val="0D1B2A"/>
                </a:solidFill>
                <a:latin typeface="Calibri"/>
              </a:rPr>
              <a:t>1 / 5</a:t>
            </a:r>
          </a:p>
        </p:txBody>
      </p:sp>
      <p:sp>
        <p:nvSpPr>
          <p:cNvPr id="10" name="Rectangle 9"/>
          <p:cNvSpPr/>
          <p:nvPr/>
        </p:nvSpPr>
        <p:spPr>
          <a:xfrm>
            <a:off x="0" y="0"/>
            <a:ext cx="8046720"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804672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 y="182880"/>
            <a:ext cx="7498079" cy="822960"/>
          </a:xfrm>
          <a:prstGeom prst="rect">
            <a:avLst/>
          </a:prstGeom>
          <a:noFill/>
        </p:spPr>
        <p:txBody>
          <a:bodyPr wrap="square">
            <a:spAutoFit/>
          </a:bodyPr>
          <a:lstStyle/>
          <a:p>
            <a:pPr algn="l"/>
            <a:r>
              <a:rPr sz="2600" b="1" i="0">
                <a:solidFill>
                  <a:srgbClr val="FFFFFF"/>
                </a:solidFill>
                <a:latin typeface="Calibri"/>
              </a:rPr>
              <a:t>What is Software Refactoring?</a:t>
            </a:r>
          </a:p>
        </p:txBody>
      </p:sp>
      <p:sp>
        <p:nvSpPr>
          <p:cNvPr id="14" name="Rectangle 13"/>
          <p:cNvSpPr/>
          <p:nvPr/>
        </p:nvSpPr>
        <p:spPr>
          <a:xfrm>
            <a:off x="182880" y="1051560"/>
            <a:ext cx="768096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2880" y="1170432"/>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1170432"/>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371600"/>
            <a:ext cx="365760" cy="411480"/>
          </a:xfrm>
          <a:prstGeom prst="rect">
            <a:avLst/>
          </a:prstGeom>
          <a:noFill/>
        </p:spPr>
        <p:txBody>
          <a:bodyPr wrap="none">
            <a:spAutoFit/>
          </a:bodyPr>
          <a:lstStyle/>
          <a:p>
            <a:pPr algn="ctr"/>
            <a:r>
              <a:rPr sz="1300" b="1">
                <a:solidFill>
                  <a:srgbClr val="00B4D8"/>
                </a:solidFill>
                <a:latin typeface="Calibri"/>
              </a:rPr>
              <a:t>1</a:t>
            </a:r>
          </a:p>
        </p:txBody>
      </p:sp>
      <p:sp>
        <p:nvSpPr>
          <p:cNvPr id="18" name="TextBox 17"/>
          <p:cNvSpPr txBox="1"/>
          <p:nvPr/>
        </p:nvSpPr>
        <p:spPr>
          <a:xfrm>
            <a:off x="749808" y="1298448"/>
            <a:ext cx="7022592" cy="585216"/>
          </a:xfrm>
          <a:prstGeom prst="rect">
            <a:avLst/>
          </a:prstGeom>
          <a:noFill/>
        </p:spPr>
        <p:txBody>
          <a:bodyPr wrap="square">
            <a:spAutoFit/>
          </a:bodyPr>
          <a:lstStyle/>
          <a:p>
            <a:pPr algn="l"/>
            <a:r>
              <a:rPr sz="1400" b="0" i="0">
                <a:solidFill>
                  <a:srgbClr val="FFFFFF"/>
                </a:solidFill>
                <a:latin typeface="Calibri"/>
              </a:rPr>
              <a:t>Improves internal code structure without changing external behavior.</a:t>
            </a:r>
          </a:p>
        </p:txBody>
      </p:sp>
      <p:sp>
        <p:nvSpPr>
          <p:cNvPr id="19" name="Rectangle 18"/>
          <p:cNvSpPr/>
          <p:nvPr/>
        </p:nvSpPr>
        <p:spPr>
          <a:xfrm>
            <a:off x="182880" y="2103120"/>
            <a:ext cx="7680960" cy="84124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2103120"/>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304288"/>
            <a:ext cx="365760" cy="411480"/>
          </a:xfrm>
          <a:prstGeom prst="rect">
            <a:avLst/>
          </a:prstGeom>
          <a:noFill/>
        </p:spPr>
        <p:txBody>
          <a:bodyPr wrap="none">
            <a:spAutoFit/>
          </a:bodyPr>
          <a:lstStyle/>
          <a:p>
            <a:pPr algn="ctr"/>
            <a:r>
              <a:rPr sz="1300" b="1">
                <a:solidFill>
                  <a:srgbClr val="00B4D8"/>
                </a:solidFill>
                <a:latin typeface="Calibri"/>
              </a:rPr>
              <a:t>2</a:t>
            </a:r>
          </a:p>
        </p:txBody>
      </p:sp>
      <p:sp>
        <p:nvSpPr>
          <p:cNvPr id="22" name="TextBox 21"/>
          <p:cNvSpPr txBox="1"/>
          <p:nvPr/>
        </p:nvSpPr>
        <p:spPr>
          <a:xfrm>
            <a:off x="749808" y="2231136"/>
            <a:ext cx="7022592" cy="585216"/>
          </a:xfrm>
          <a:prstGeom prst="rect">
            <a:avLst/>
          </a:prstGeom>
          <a:noFill/>
        </p:spPr>
        <p:txBody>
          <a:bodyPr wrap="square">
            <a:spAutoFit/>
          </a:bodyPr>
          <a:lstStyle/>
          <a:p>
            <a:pPr algn="l"/>
            <a:r>
              <a:rPr sz="1400" b="0" i="0">
                <a:solidFill>
                  <a:srgbClr val="FFFFFF"/>
                </a:solidFill>
                <a:latin typeface="Calibri"/>
              </a:rPr>
              <a:t>Aims to make code cleaner, easier to understand, and maintain.</a:t>
            </a:r>
          </a:p>
        </p:txBody>
      </p:sp>
      <p:sp>
        <p:nvSpPr>
          <p:cNvPr id="23" name="Rectangle 22"/>
          <p:cNvSpPr/>
          <p:nvPr/>
        </p:nvSpPr>
        <p:spPr>
          <a:xfrm>
            <a:off x="182880" y="3035808"/>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 y="3035808"/>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3236976"/>
            <a:ext cx="365760" cy="411480"/>
          </a:xfrm>
          <a:prstGeom prst="rect">
            <a:avLst/>
          </a:prstGeom>
          <a:noFill/>
        </p:spPr>
        <p:txBody>
          <a:bodyPr wrap="none">
            <a:spAutoFit/>
          </a:bodyPr>
          <a:lstStyle/>
          <a:p>
            <a:pPr algn="ctr"/>
            <a:r>
              <a:rPr sz="1300" b="1">
                <a:solidFill>
                  <a:srgbClr val="00B4D8"/>
                </a:solidFill>
                <a:latin typeface="Calibri"/>
              </a:rPr>
              <a:t>3</a:t>
            </a:r>
          </a:p>
        </p:txBody>
      </p:sp>
      <p:sp>
        <p:nvSpPr>
          <p:cNvPr id="26" name="TextBox 25"/>
          <p:cNvSpPr txBox="1"/>
          <p:nvPr/>
        </p:nvSpPr>
        <p:spPr>
          <a:xfrm>
            <a:off x="749808" y="3163824"/>
            <a:ext cx="7022592" cy="585216"/>
          </a:xfrm>
          <a:prstGeom prst="rect">
            <a:avLst/>
          </a:prstGeom>
          <a:noFill/>
        </p:spPr>
        <p:txBody>
          <a:bodyPr wrap="square">
            <a:spAutoFit/>
          </a:bodyPr>
          <a:lstStyle/>
          <a:p>
            <a:pPr algn="l"/>
            <a:r>
              <a:rPr sz="1400" b="0" i="0">
                <a:solidFill>
                  <a:srgbClr val="FFFFFF"/>
                </a:solidFill>
                <a:latin typeface="Calibri"/>
              </a:rPr>
              <a:t>Addresses technical debt, preventing accumulated design issues.</a:t>
            </a:r>
          </a:p>
        </p:txBody>
      </p:sp>
      <p:sp>
        <p:nvSpPr>
          <p:cNvPr id="27" name="Rectangle 26"/>
          <p:cNvSpPr/>
          <p:nvPr/>
        </p:nvSpPr>
        <p:spPr>
          <a:xfrm>
            <a:off x="182880" y="3968496"/>
            <a:ext cx="7680960" cy="84124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82880" y="3968496"/>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4169664"/>
            <a:ext cx="365760" cy="411480"/>
          </a:xfrm>
          <a:prstGeom prst="rect">
            <a:avLst/>
          </a:prstGeom>
          <a:noFill/>
        </p:spPr>
        <p:txBody>
          <a:bodyPr wrap="none">
            <a:spAutoFit/>
          </a:bodyPr>
          <a:lstStyle/>
          <a:p>
            <a:pPr algn="ctr"/>
            <a:r>
              <a:rPr sz="1300" b="1">
                <a:solidFill>
                  <a:srgbClr val="00B4D8"/>
                </a:solidFill>
                <a:latin typeface="Calibri"/>
              </a:rPr>
              <a:t>4</a:t>
            </a:r>
          </a:p>
        </p:txBody>
      </p:sp>
      <p:sp>
        <p:nvSpPr>
          <p:cNvPr id="30" name="TextBox 29"/>
          <p:cNvSpPr txBox="1"/>
          <p:nvPr/>
        </p:nvSpPr>
        <p:spPr>
          <a:xfrm>
            <a:off x="749808" y="4096512"/>
            <a:ext cx="7022592" cy="585216"/>
          </a:xfrm>
          <a:prstGeom prst="rect">
            <a:avLst/>
          </a:prstGeom>
          <a:noFill/>
        </p:spPr>
        <p:txBody>
          <a:bodyPr wrap="square">
            <a:spAutoFit/>
          </a:bodyPr>
          <a:lstStyle/>
          <a:p>
            <a:pPr algn="l"/>
            <a:r>
              <a:rPr sz="1400" b="0" i="0">
                <a:solidFill>
                  <a:srgbClr val="FFFFFF"/>
                </a:solidFill>
                <a:latin typeface="Calibri"/>
              </a:rPr>
              <a:t>Concept introduced by Martin Fowler as a disciplined technique.</a:t>
            </a:r>
          </a:p>
        </p:txBody>
      </p:sp>
      <p:sp>
        <p:nvSpPr>
          <p:cNvPr id="31" name="Rectangle 30"/>
          <p:cNvSpPr/>
          <p:nvPr/>
        </p:nvSpPr>
        <p:spPr>
          <a:xfrm>
            <a:off x="0" y="6565392"/>
            <a:ext cx="12188952" cy="29260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2880" y="6583680"/>
            <a:ext cx="7315200" cy="256032"/>
          </a:xfrm>
          <a:prstGeom prst="rect">
            <a:avLst/>
          </a:prstGeom>
          <a:noFill/>
        </p:spPr>
        <p:txBody>
          <a:bodyPr wrap="square">
            <a:spAutoFit/>
          </a:bodyPr>
          <a:lstStyle/>
          <a:p>
            <a:pPr algn="l"/>
            <a:r>
              <a:rPr sz="800" b="0" i="0">
                <a:solidFill>
                  <a:srgbClr val="AABBCC"/>
                </a:solidFill>
                <a:latin typeface="Calibri"/>
              </a:rPr>
              <a:t>WHAT IS SOFTWARE REFACTORING?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8046720" y="0"/>
            <a:ext cx="4142232" cy="6858000"/>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097280"/>
            <a:ext cx="3200400" cy="3200400"/>
          </a:xfrm>
          <a:prstGeom prst="ellipse">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78240" y="2194560"/>
            <a:ext cx="2286000" cy="914400"/>
          </a:xfrm>
          <a:prstGeom prst="rect">
            <a:avLst/>
          </a:prstGeom>
          <a:noFill/>
        </p:spPr>
        <p:txBody>
          <a:bodyPr wrap="square">
            <a:spAutoFit/>
          </a:bodyPr>
          <a:lstStyle/>
          <a:p>
            <a:pPr algn="ctr"/>
            <a:r>
              <a:rPr sz="3600" b="1" i="0">
                <a:solidFill>
                  <a:srgbClr val="00B4D8"/>
                </a:solidFill>
                <a:latin typeface="Calibri"/>
              </a:rPr>
              <a:t>⚠</a:t>
            </a:r>
          </a:p>
        </p:txBody>
      </p:sp>
      <p:sp>
        <p:nvSpPr>
          <p:cNvPr id="5" name="Rectangle 4"/>
          <p:cNvSpPr/>
          <p:nvPr/>
        </p:nvSpPr>
        <p:spPr>
          <a:xfrm>
            <a:off x="8229600" y="4754880"/>
            <a:ext cx="2834640" cy="13716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4846320"/>
            <a:ext cx="2743200" cy="731520"/>
          </a:xfrm>
          <a:prstGeom prst="rect">
            <a:avLst/>
          </a:prstGeom>
          <a:noFill/>
        </p:spPr>
        <p:txBody>
          <a:bodyPr wrap="square">
            <a:spAutoFit/>
          </a:bodyPr>
          <a:lstStyle/>
          <a:p>
            <a:pPr algn="ctr"/>
            <a:r>
              <a:rPr sz="2200" b="1" i="0">
                <a:solidFill>
                  <a:srgbClr val="0D1B2A"/>
                </a:solidFill>
                <a:latin typeface="Calibri"/>
              </a:rPr>
              <a:t>Program comprehension absorbs 50% of maintenance costs</a:t>
            </a:r>
          </a:p>
        </p:txBody>
      </p:sp>
      <p:sp>
        <p:nvSpPr>
          <p:cNvPr id="7" name="TextBox 6"/>
          <p:cNvSpPr txBox="1"/>
          <p:nvPr/>
        </p:nvSpPr>
        <p:spPr>
          <a:xfrm>
            <a:off x="8275320" y="5532120"/>
            <a:ext cx="2743200" cy="365760"/>
          </a:xfrm>
          <a:prstGeom prst="rect">
            <a:avLst/>
          </a:prstGeom>
          <a:noFill/>
        </p:spPr>
        <p:txBody>
          <a:bodyPr wrap="square">
            <a:spAutoFit/>
          </a:bodyPr>
          <a:lstStyle/>
          <a:p>
            <a:pPr algn="ctr"/>
            <a:r>
              <a:rPr sz="900" b="1" i="0">
                <a:solidFill>
                  <a:srgbClr val="0D1B2A"/>
                </a:solidFill>
                <a:latin typeface="Calibri"/>
              </a:rPr>
              <a:t>KEY STAT</a:t>
            </a:r>
          </a:p>
        </p:txBody>
      </p:sp>
      <p:sp>
        <p:nvSpPr>
          <p:cNvPr id="8" name="Rectangle 7"/>
          <p:cNvSpPr/>
          <p:nvPr/>
        </p:nvSpPr>
        <p:spPr>
          <a:xfrm>
            <a:off x="10881360" y="182880"/>
            <a:ext cx="100584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201168"/>
            <a:ext cx="1005840" cy="329184"/>
          </a:xfrm>
          <a:prstGeom prst="rect">
            <a:avLst/>
          </a:prstGeom>
          <a:noFill/>
        </p:spPr>
        <p:txBody>
          <a:bodyPr wrap="square">
            <a:spAutoFit/>
          </a:bodyPr>
          <a:lstStyle/>
          <a:p>
            <a:pPr algn="ctr"/>
            <a:r>
              <a:rPr sz="1100" b="1" i="0">
                <a:solidFill>
                  <a:srgbClr val="0D1B2A"/>
                </a:solidFill>
                <a:latin typeface="Calibri"/>
              </a:rPr>
              <a:t>2 / 5</a:t>
            </a:r>
          </a:p>
        </p:txBody>
      </p:sp>
      <p:sp>
        <p:nvSpPr>
          <p:cNvPr id="10" name="Rectangle 9"/>
          <p:cNvSpPr/>
          <p:nvPr/>
        </p:nvSpPr>
        <p:spPr>
          <a:xfrm>
            <a:off x="0" y="0"/>
            <a:ext cx="8046720"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804672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 y="182880"/>
            <a:ext cx="7498079" cy="822960"/>
          </a:xfrm>
          <a:prstGeom prst="rect">
            <a:avLst/>
          </a:prstGeom>
          <a:noFill/>
        </p:spPr>
        <p:txBody>
          <a:bodyPr wrap="square">
            <a:spAutoFit/>
          </a:bodyPr>
          <a:lstStyle/>
          <a:p>
            <a:pPr algn="l"/>
            <a:r>
              <a:rPr sz="2600" b="1" i="0">
                <a:solidFill>
                  <a:srgbClr val="FFFFFF"/>
                </a:solidFill>
                <a:latin typeface="Calibri"/>
              </a:rPr>
              <a:t>The Problem: Technical Debt and Code Smells</a:t>
            </a:r>
          </a:p>
        </p:txBody>
      </p:sp>
      <p:sp>
        <p:nvSpPr>
          <p:cNvPr id="14" name="Rectangle 13"/>
          <p:cNvSpPr/>
          <p:nvPr/>
        </p:nvSpPr>
        <p:spPr>
          <a:xfrm>
            <a:off x="182880" y="1051560"/>
            <a:ext cx="768096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2880" y="1170432"/>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1170432"/>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371600"/>
            <a:ext cx="365760" cy="411480"/>
          </a:xfrm>
          <a:prstGeom prst="rect">
            <a:avLst/>
          </a:prstGeom>
          <a:noFill/>
        </p:spPr>
        <p:txBody>
          <a:bodyPr wrap="none">
            <a:spAutoFit/>
          </a:bodyPr>
          <a:lstStyle/>
          <a:p>
            <a:pPr algn="ctr"/>
            <a:r>
              <a:rPr sz="1300" b="1">
                <a:solidFill>
                  <a:srgbClr val="00B4D8"/>
                </a:solidFill>
                <a:latin typeface="Calibri"/>
              </a:rPr>
              <a:t>1</a:t>
            </a:r>
          </a:p>
        </p:txBody>
      </p:sp>
      <p:sp>
        <p:nvSpPr>
          <p:cNvPr id="18" name="TextBox 17"/>
          <p:cNvSpPr txBox="1"/>
          <p:nvPr/>
        </p:nvSpPr>
        <p:spPr>
          <a:xfrm>
            <a:off x="749808" y="1298448"/>
            <a:ext cx="7022592" cy="585216"/>
          </a:xfrm>
          <a:prstGeom prst="rect">
            <a:avLst/>
          </a:prstGeom>
          <a:noFill/>
        </p:spPr>
        <p:txBody>
          <a:bodyPr wrap="square">
            <a:spAutoFit/>
          </a:bodyPr>
          <a:lstStyle/>
          <a:p>
            <a:pPr algn="l"/>
            <a:r>
              <a:rPr sz="1400" b="0" i="0">
                <a:solidFill>
                  <a:srgbClr val="FFFFFF"/>
                </a:solidFill>
                <a:latin typeface="Calibri"/>
              </a:rPr>
              <a:t>Technical debt arises from quick fixes and suboptimal design decisions.</a:t>
            </a:r>
          </a:p>
        </p:txBody>
      </p:sp>
      <p:sp>
        <p:nvSpPr>
          <p:cNvPr id="19" name="Rectangle 18"/>
          <p:cNvSpPr/>
          <p:nvPr/>
        </p:nvSpPr>
        <p:spPr>
          <a:xfrm>
            <a:off x="182880" y="2103120"/>
            <a:ext cx="7680960" cy="84124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2103120"/>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304288"/>
            <a:ext cx="365760" cy="411480"/>
          </a:xfrm>
          <a:prstGeom prst="rect">
            <a:avLst/>
          </a:prstGeom>
          <a:noFill/>
        </p:spPr>
        <p:txBody>
          <a:bodyPr wrap="none">
            <a:spAutoFit/>
          </a:bodyPr>
          <a:lstStyle/>
          <a:p>
            <a:pPr algn="ctr"/>
            <a:r>
              <a:rPr sz="1300" b="1">
                <a:solidFill>
                  <a:srgbClr val="00B4D8"/>
                </a:solidFill>
                <a:latin typeface="Calibri"/>
              </a:rPr>
              <a:t>2</a:t>
            </a:r>
          </a:p>
        </p:txBody>
      </p:sp>
      <p:sp>
        <p:nvSpPr>
          <p:cNvPr id="22" name="TextBox 21"/>
          <p:cNvSpPr txBox="1"/>
          <p:nvPr/>
        </p:nvSpPr>
        <p:spPr>
          <a:xfrm>
            <a:off x="749808" y="2231136"/>
            <a:ext cx="7022592" cy="585216"/>
          </a:xfrm>
          <a:prstGeom prst="rect">
            <a:avLst/>
          </a:prstGeom>
          <a:noFill/>
        </p:spPr>
        <p:txBody>
          <a:bodyPr wrap="square">
            <a:spAutoFit/>
          </a:bodyPr>
          <a:lstStyle/>
          <a:p>
            <a:pPr algn="l"/>
            <a:r>
              <a:rPr sz="1400" b="0" i="0">
                <a:solidFill>
                  <a:srgbClr val="FFFFFF"/>
                </a:solidFill>
                <a:latin typeface="Calibri"/>
              </a:rPr>
              <a:t>Leads to increased bugs, slower development, and higher maintenance costs.</a:t>
            </a:r>
          </a:p>
        </p:txBody>
      </p:sp>
      <p:sp>
        <p:nvSpPr>
          <p:cNvPr id="23" name="Rectangle 22"/>
          <p:cNvSpPr/>
          <p:nvPr/>
        </p:nvSpPr>
        <p:spPr>
          <a:xfrm>
            <a:off x="182880" y="3035808"/>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 y="3035808"/>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3236976"/>
            <a:ext cx="365760" cy="411480"/>
          </a:xfrm>
          <a:prstGeom prst="rect">
            <a:avLst/>
          </a:prstGeom>
          <a:noFill/>
        </p:spPr>
        <p:txBody>
          <a:bodyPr wrap="none">
            <a:spAutoFit/>
          </a:bodyPr>
          <a:lstStyle/>
          <a:p>
            <a:pPr algn="ctr"/>
            <a:r>
              <a:rPr sz="1300" b="1">
                <a:solidFill>
                  <a:srgbClr val="00B4D8"/>
                </a:solidFill>
                <a:latin typeface="Calibri"/>
              </a:rPr>
              <a:t>3</a:t>
            </a:r>
          </a:p>
        </p:txBody>
      </p:sp>
      <p:sp>
        <p:nvSpPr>
          <p:cNvPr id="26" name="TextBox 25"/>
          <p:cNvSpPr txBox="1"/>
          <p:nvPr/>
        </p:nvSpPr>
        <p:spPr>
          <a:xfrm>
            <a:off x="749808" y="3163824"/>
            <a:ext cx="7022592" cy="585216"/>
          </a:xfrm>
          <a:prstGeom prst="rect">
            <a:avLst/>
          </a:prstGeom>
          <a:noFill/>
        </p:spPr>
        <p:txBody>
          <a:bodyPr wrap="square">
            <a:spAutoFit/>
          </a:bodyPr>
          <a:lstStyle/>
          <a:p>
            <a:pPr algn="l"/>
            <a:r>
              <a:rPr sz="1400" b="0" i="0">
                <a:solidFill>
                  <a:srgbClr val="FFFFFF"/>
                </a:solidFill>
                <a:latin typeface="Calibri"/>
              </a:rPr>
              <a:t>Code smells are indicators of underlying problems in the codebase.</a:t>
            </a:r>
          </a:p>
        </p:txBody>
      </p:sp>
      <p:sp>
        <p:nvSpPr>
          <p:cNvPr id="27" name="Rectangle 26"/>
          <p:cNvSpPr/>
          <p:nvPr/>
        </p:nvSpPr>
        <p:spPr>
          <a:xfrm>
            <a:off x="182880" y="3968496"/>
            <a:ext cx="7680960" cy="84124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82880" y="3968496"/>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4169664"/>
            <a:ext cx="365760" cy="411480"/>
          </a:xfrm>
          <a:prstGeom prst="rect">
            <a:avLst/>
          </a:prstGeom>
          <a:noFill/>
        </p:spPr>
        <p:txBody>
          <a:bodyPr wrap="none">
            <a:spAutoFit/>
          </a:bodyPr>
          <a:lstStyle/>
          <a:p>
            <a:pPr algn="ctr"/>
            <a:r>
              <a:rPr sz="1300" b="1">
                <a:solidFill>
                  <a:srgbClr val="00B4D8"/>
                </a:solidFill>
                <a:latin typeface="Calibri"/>
              </a:rPr>
              <a:t>4</a:t>
            </a:r>
          </a:p>
        </p:txBody>
      </p:sp>
      <p:sp>
        <p:nvSpPr>
          <p:cNvPr id="30" name="TextBox 29"/>
          <p:cNvSpPr txBox="1"/>
          <p:nvPr/>
        </p:nvSpPr>
        <p:spPr>
          <a:xfrm>
            <a:off x="749808" y="4096512"/>
            <a:ext cx="7022592" cy="585216"/>
          </a:xfrm>
          <a:prstGeom prst="rect">
            <a:avLst/>
          </a:prstGeom>
          <a:noFill/>
        </p:spPr>
        <p:txBody>
          <a:bodyPr wrap="square">
            <a:spAutoFit/>
          </a:bodyPr>
          <a:lstStyle/>
          <a:p>
            <a:pPr algn="l"/>
            <a:r>
              <a:rPr sz="1400" b="0" i="0">
                <a:solidFill>
                  <a:srgbClr val="FFFFFF"/>
                </a:solidFill>
                <a:latin typeface="Calibri"/>
              </a:rPr>
              <a:t>Examples include long methods, duplicated code, and tight coupling.</a:t>
            </a:r>
          </a:p>
        </p:txBody>
      </p:sp>
      <p:sp>
        <p:nvSpPr>
          <p:cNvPr id="31" name="Rectangle 30"/>
          <p:cNvSpPr/>
          <p:nvPr/>
        </p:nvSpPr>
        <p:spPr>
          <a:xfrm>
            <a:off x="0" y="6565392"/>
            <a:ext cx="12188952" cy="29260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2880" y="6583680"/>
            <a:ext cx="7315200" cy="256032"/>
          </a:xfrm>
          <a:prstGeom prst="rect">
            <a:avLst/>
          </a:prstGeom>
          <a:noFill/>
        </p:spPr>
        <p:txBody>
          <a:bodyPr wrap="square">
            <a:spAutoFit/>
          </a:bodyPr>
          <a:lstStyle/>
          <a:p>
            <a:pPr algn="l"/>
            <a:r>
              <a:rPr sz="800" b="0" i="0">
                <a:solidFill>
                  <a:srgbClr val="AABBCC"/>
                </a:solidFill>
                <a:latin typeface="Calibri"/>
              </a:rPr>
              <a:t>THE PROBLEM: TECHNICAL DEBT AND CODE SMELLS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8046720" y="0"/>
            <a:ext cx="4142232" cy="6858000"/>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097280"/>
            <a:ext cx="3200400" cy="3200400"/>
          </a:xfrm>
          <a:prstGeom prst="ellipse">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78240" y="2194560"/>
            <a:ext cx="2286000" cy="914400"/>
          </a:xfrm>
          <a:prstGeom prst="rect">
            <a:avLst/>
          </a:prstGeom>
          <a:noFill/>
        </p:spPr>
        <p:txBody>
          <a:bodyPr wrap="square">
            <a:spAutoFit/>
          </a:bodyPr>
          <a:lstStyle/>
          <a:p>
            <a:pPr algn="ctr"/>
            <a:r>
              <a:rPr sz="3600" b="1" i="0">
                <a:solidFill>
                  <a:srgbClr val="00B4D8"/>
                </a:solidFill>
                <a:latin typeface="Calibri"/>
              </a:rPr>
              <a:t>⚙</a:t>
            </a:r>
          </a:p>
        </p:txBody>
      </p:sp>
      <p:sp>
        <p:nvSpPr>
          <p:cNvPr id="5" name="Rectangle 4"/>
          <p:cNvSpPr/>
          <p:nvPr/>
        </p:nvSpPr>
        <p:spPr>
          <a:xfrm>
            <a:off x="10881360" y="182880"/>
            <a:ext cx="100584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201168"/>
            <a:ext cx="1005840" cy="329184"/>
          </a:xfrm>
          <a:prstGeom prst="rect">
            <a:avLst/>
          </a:prstGeom>
          <a:noFill/>
        </p:spPr>
        <p:txBody>
          <a:bodyPr wrap="square">
            <a:spAutoFit/>
          </a:bodyPr>
          <a:lstStyle/>
          <a:p>
            <a:pPr algn="ctr"/>
            <a:r>
              <a:rPr sz="1100" b="1" i="0">
                <a:solidFill>
                  <a:srgbClr val="0D1B2A"/>
                </a:solidFill>
                <a:latin typeface="Calibri"/>
              </a:rPr>
              <a:t>3 / 5</a:t>
            </a:r>
          </a:p>
        </p:txBody>
      </p:sp>
      <p:sp>
        <p:nvSpPr>
          <p:cNvPr id="7" name="Rectangle 6"/>
          <p:cNvSpPr/>
          <p:nvPr/>
        </p:nvSpPr>
        <p:spPr>
          <a:xfrm>
            <a:off x="0" y="0"/>
            <a:ext cx="8046720"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804672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182880"/>
            <a:ext cx="7498079" cy="822960"/>
          </a:xfrm>
          <a:prstGeom prst="rect">
            <a:avLst/>
          </a:prstGeom>
          <a:noFill/>
        </p:spPr>
        <p:txBody>
          <a:bodyPr wrap="square">
            <a:spAutoFit/>
          </a:bodyPr>
          <a:lstStyle/>
          <a:p>
            <a:pPr algn="l"/>
            <a:r>
              <a:rPr sz="2600" b="1" i="0">
                <a:solidFill>
                  <a:srgbClr val="FFFFFF"/>
                </a:solidFill>
                <a:latin typeface="Calibri"/>
              </a:rPr>
              <a:t>Key Refactoring Techniques and Practices</a:t>
            </a:r>
          </a:p>
        </p:txBody>
      </p:sp>
      <p:sp>
        <p:nvSpPr>
          <p:cNvPr id="11" name="Rectangle 10"/>
          <p:cNvSpPr/>
          <p:nvPr/>
        </p:nvSpPr>
        <p:spPr>
          <a:xfrm>
            <a:off x="182880" y="1051560"/>
            <a:ext cx="768096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1170432"/>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170432"/>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371600"/>
            <a:ext cx="365760" cy="411480"/>
          </a:xfrm>
          <a:prstGeom prst="rect">
            <a:avLst/>
          </a:prstGeom>
          <a:noFill/>
        </p:spPr>
        <p:txBody>
          <a:bodyPr wrap="none">
            <a:spAutoFit/>
          </a:bodyPr>
          <a:lstStyle/>
          <a:p>
            <a:pPr algn="ctr"/>
            <a:r>
              <a:rPr sz="1300" b="1">
                <a:solidFill>
                  <a:srgbClr val="00B4D8"/>
                </a:solidFill>
                <a:latin typeface="Calibri"/>
              </a:rPr>
              <a:t>1</a:t>
            </a:r>
          </a:p>
        </p:txBody>
      </p:sp>
      <p:sp>
        <p:nvSpPr>
          <p:cNvPr id="15" name="TextBox 14"/>
          <p:cNvSpPr txBox="1"/>
          <p:nvPr/>
        </p:nvSpPr>
        <p:spPr>
          <a:xfrm>
            <a:off x="749808" y="1298448"/>
            <a:ext cx="7022592" cy="585216"/>
          </a:xfrm>
          <a:prstGeom prst="rect">
            <a:avLst/>
          </a:prstGeom>
          <a:noFill/>
        </p:spPr>
        <p:txBody>
          <a:bodyPr wrap="square">
            <a:spAutoFit/>
          </a:bodyPr>
          <a:lstStyle/>
          <a:p>
            <a:pPr algn="l"/>
            <a:r>
              <a:rPr sz="1400" b="0" i="0">
                <a:solidFill>
                  <a:srgbClr val="FFFFFF"/>
                </a:solidFill>
                <a:latin typeface="Calibri"/>
              </a:rPr>
              <a:t>Identify issues like bloaters, OO misuse, dispensable code, and coupling problems.</a:t>
            </a:r>
          </a:p>
        </p:txBody>
      </p:sp>
      <p:sp>
        <p:nvSpPr>
          <p:cNvPr id="16" name="Rectangle 15"/>
          <p:cNvSpPr/>
          <p:nvPr/>
        </p:nvSpPr>
        <p:spPr>
          <a:xfrm>
            <a:off x="182880" y="2103120"/>
            <a:ext cx="7680960" cy="84124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103120"/>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304288"/>
            <a:ext cx="365760" cy="411480"/>
          </a:xfrm>
          <a:prstGeom prst="rect">
            <a:avLst/>
          </a:prstGeom>
          <a:noFill/>
        </p:spPr>
        <p:txBody>
          <a:bodyPr wrap="none">
            <a:spAutoFit/>
          </a:bodyPr>
          <a:lstStyle/>
          <a:p>
            <a:pPr algn="ctr"/>
            <a:r>
              <a:rPr sz="1300" b="1">
                <a:solidFill>
                  <a:srgbClr val="00B4D8"/>
                </a:solidFill>
                <a:latin typeface="Calibri"/>
              </a:rPr>
              <a:t>2</a:t>
            </a:r>
          </a:p>
        </p:txBody>
      </p:sp>
      <p:sp>
        <p:nvSpPr>
          <p:cNvPr id="19" name="TextBox 18"/>
          <p:cNvSpPr txBox="1"/>
          <p:nvPr/>
        </p:nvSpPr>
        <p:spPr>
          <a:xfrm>
            <a:off x="749808" y="2231136"/>
            <a:ext cx="7022592" cy="585216"/>
          </a:xfrm>
          <a:prstGeom prst="rect">
            <a:avLst/>
          </a:prstGeom>
          <a:noFill/>
        </p:spPr>
        <p:txBody>
          <a:bodyPr wrap="square">
            <a:spAutoFit/>
          </a:bodyPr>
          <a:lstStyle/>
          <a:p>
            <a:pPr algn="l"/>
            <a:r>
              <a:rPr sz="1400" b="0" i="0">
                <a:solidFill>
                  <a:srgbClr val="FFFFFF"/>
                </a:solidFill>
                <a:latin typeface="Calibri"/>
              </a:rPr>
              <a:t>Apply abstraction methods such as pull-up and push-down.</a:t>
            </a:r>
          </a:p>
        </p:txBody>
      </p:sp>
      <p:sp>
        <p:nvSpPr>
          <p:cNvPr id="20" name="Rectangle 19"/>
          <p:cNvSpPr/>
          <p:nvPr/>
        </p:nvSpPr>
        <p:spPr>
          <a:xfrm>
            <a:off x="182880" y="3035808"/>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3035808"/>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2608" y="3236976"/>
            <a:ext cx="365760" cy="411480"/>
          </a:xfrm>
          <a:prstGeom prst="rect">
            <a:avLst/>
          </a:prstGeom>
          <a:noFill/>
        </p:spPr>
        <p:txBody>
          <a:bodyPr wrap="none">
            <a:spAutoFit/>
          </a:bodyPr>
          <a:lstStyle/>
          <a:p>
            <a:pPr algn="ctr"/>
            <a:r>
              <a:rPr sz="1300" b="1">
                <a:solidFill>
                  <a:srgbClr val="00B4D8"/>
                </a:solidFill>
                <a:latin typeface="Calibri"/>
              </a:rPr>
              <a:t>3</a:t>
            </a:r>
          </a:p>
        </p:txBody>
      </p:sp>
      <p:sp>
        <p:nvSpPr>
          <p:cNvPr id="23" name="TextBox 22"/>
          <p:cNvSpPr txBox="1"/>
          <p:nvPr/>
        </p:nvSpPr>
        <p:spPr>
          <a:xfrm>
            <a:off x="749808" y="3163824"/>
            <a:ext cx="7022592" cy="585216"/>
          </a:xfrm>
          <a:prstGeom prst="rect">
            <a:avLst/>
          </a:prstGeom>
          <a:noFill/>
        </p:spPr>
        <p:txBody>
          <a:bodyPr wrap="square">
            <a:spAutoFit/>
          </a:bodyPr>
          <a:lstStyle/>
          <a:p>
            <a:pPr algn="l"/>
            <a:r>
              <a:rPr sz="1400" b="0" i="0">
                <a:solidFill>
                  <a:srgbClr val="FFFFFF"/>
                </a:solidFill>
                <a:latin typeface="Calibri"/>
              </a:rPr>
              <a:t>Break code into smaller parts using extract or inline methods.</a:t>
            </a:r>
          </a:p>
        </p:txBody>
      </p:sp>
      <p:sp>
        <p:nvSpPr>
          <p:cNvPr id="24" name="Rectangle 23"/>
          <p:cNvSpPr/>
          <p:nvPr/>
        </p:nvSpPr>
        <p:spPr>
          <a:xfrm>
            <a:off x="182880" y="3968496"/>
            <a:ext cx="7680960" cy="84124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2880" y="3968496"/>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4169664"/>
            <a:ext cx="365760" cy="411480"/>
          </a:xfrm>
          <a:prstGeom prst="rect">
            <a:avLst/>
          </a:prstGeom>
          <a:noFill/>
        </p:spPr>
        <p:txBody>
          <a:bodyPr wrap="none">
            <a:spAutoFit/>
          </a:bodyPr>
          <a:lstStyle/>
          <a:p>
            <a:pPr algn="ctr"/>
            <a:r>
              <a:rPr sz="1300" b="1">
                <a:solidFill>
                  <a:srgbClr val="00B4D8"/>
                </a:solidFill>
                <a:latin typeface="Calibri"/>
              </a:rPr>
              <a:t>4</a:t>
            </a:r>
          </a:p>
        </p:txBody>
      </p:sp>
      <p:sp>
        <p:nvSpPr>
          <p:cNvPr id="27" name="TextBox 26"/>
          <p:cNvSpPr txBox="1"/>
          <p:nvPr/>
        </p:nvSpPr>
        <p:spPr>
          <a:xfrm>
            <a:off x="749808" y="4096512"/>
            <a:ext cx="7022592" cy="585216"/>
          </a:xfrm>
          <a:prstGeom prst="rect">
            <a:avLst/>
          </a:prstGeom>
          <a:noFill/>
        </p:spPr>
        <p:txBody>
          <a:bodyPr wrap="square">
            <a:spAutoFit/>
          </a:bodyPr>
          <a:lstStyle/>
          <a:p>
            <a:pPr algn="l"/>
            <a:r>
              <a:rPr sz="1400" b="0" i="0">
                <a:solidFill>
                  <a:srgbClr val="FFFFFF"/>
                </a:solidFill>
                <a:latin typeface="Calibri"/>
              </a:rPr>
              <a:t>Reorganize functionality by moving features and simplifying structures.</a:t>
            </a:r>
          </a:p>
        </p:txBody>
      </p:sp>
      <p:sp>
        <p:nvSpPr>
          <p:cNvPr id="28" name="Rectangle 27"/>
          <p:cNvSpPr/>
          <p:nvPr/>
        </p:nvSpPr>
        <p:spPr>
          <a:xfrm>
            <a:off x="182880" y="4901184"/>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2880" y="4901184"/>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 y="5102352"/>
            <a:ext cx="365760" cy="411480"/>
          </a:xfrm>
          <a:prstGeom prst="rect">
            <a:avLst/>
          </a:prstGeom>
          <a:noFill/>
        </p:spPr>
        <p:txBody>
          <a:bodyPr wrap="none">
            <a:spAutoFit/>
          </a:bodyPr>
          <a:lstStyle/>
          <a:p>
            <a:pPr algn="ctr"/>
            <a:r>
              <a:rPr sz="1300" b="1">
                <a:solidFill>
                  <a:srgbClr val="00B4D8"/>
                </a:solidFill>
                <a:latin typeface="Calibri"/>
              </a:rPr>
              <a:t>5</a:t>
            </a:r>
          </a:p>
        </p:txBody>
      </p:sp>
      <p:sp>
        <p:nvSpPr>
          <p:cNvPr id="31" name="TextBox 30"/>
          <p:cNvSpPr txBox="1"/>
          <p:nvPr/>
        </p:nvSpPr>
        <p:spPr>
          <a:xfrm>
            <a:off x="749808" y="5029200"/>
            <a:ext cx="7022592" cy="585216"/>
          </a:xfrm>
          <a:prstGeom prst="rect">
            <a:avLst/>
          </a:prstGeom>
          <a:noFill/>
        </p:spPr>
        <p:txBody>
          <a:bodyPr wrap="square">
            <a:spAutoFit/>
          </a:bodyPr>
          <a:lstStyle/>
          <a:p>
            <a:pPr algn="l"/>
            <a:r>
              <a:rPr sz="1400" b="0" i="0">
                <a:solidFill>
                  <a:srgbClr val="FFFFFF"/>
                </a:solidFill>
                <a:latin typeface="Calibri"/>
              </a:rPr>
              <a:t>Follow the red-green-refactor cycle from Test-Driven Development (TDD).</a:t>
            </a:r>
          </a:p>
        </p:txBody>
      </p:sp>
      <p:sp>
        <p:nvSpPr>
          <p:cNvPr id="32" name="Rectangle 31"/>
          <p:cNvSpPr/>
          <p:nvPr/>
        </p:nvSpPr>
        <p:spPr>
          <a:xfrm>
            <a:off x="0" y="6565392"/>
            <a:ext cx="12188952" cy="29260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2880" y="6583680"/>
            <a:ext cx="7315200" cy="256032"/>
          </a:xfrm>
          <a:prstGeom prst="rect">
            <a:avLst/>
          </a:prstGeom>
          <a:noFill/>
        </p:spPr>
        <p:txBody>
          <a:bodyPr wrap="square">
            <a:spAutoFit/>
          </a:bodyPr>
          <a:lstStyle/>
          <a:p>
            <a:pPr algn="l"/>
            <a:r>
              <a:rPr sz="800" b="0" i="0">
                <a:solidFill>
                  <a:srgbClr val="AABBCC"/>
                </a:solidFill>
                <a:latin typeface="Calibri"/>
              </a:rPr>
              <a:t>KEY REFACTORING TECHNIQUES AND PRACTICES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8046720" y="0"/>
            <a:ext cx="4142232" cy="6858000"/>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097280"/>
            <a:ext cx="3200400" cy="3200400"/>
          </a:xfrm>
          <a:prstGeom prst="ellipse">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78240" y="2194560"/>
            <a:ext cx="2286000" cy="914400"/>
          </a:xfrm>
          <a:prstGeom prst="rect">
            <a:avLst/>
          </a:prstGeom>
          <a:noFill/>
        </p:spPr>
        <p:txBody>
          <a:bodyPr wrap="square">
            <a:spAutoFit/>
          </a:bodyPr>
          <a:lstStyle/>
          <a:p>
            <a:pPr algn="ctr"/>
            <a:r>
              <a:rPr sz="3600" b="1" i="0">
                <a:solidFill>
                  <a:srgbClr val="00B4D8"/>
                </a:solidFill>
                <a:latin typeface="Calibri"/>
              </a:rPr>
              <a:t>↑</a:t>
            </a:r>
          </a:p>
        </p:txBody>
      </p:sp>
      <p:sp>
        <p:nvSpPr>
          <p:cNvPr id="5" name="Rectangle 4"/>
          <p:cNvSpPr/>
          <p:nvPr/>
        </p:nvSpPr>
        <p:spPr>
          <a:xfrm>
            <a:off x="10881360" y="182880"/>
            <a:ext cx="100584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201168"/>
            <a:ext cx="1005840" cy="329184"/>
          </a:xfrm>
          <a:prstGeom prst="rect">
            <a:avLst/>
          </a:prstGeom>
          <a:noFill/>
        </p:spPr>
        <p:txBody>
          <a:bodyPr wrap="square">
            <a:spAutoFit/>
          </a:bodyPr>
          <a:lstStyle/>
          <a:p>
            <a:pPr algn="ctr"/>
            <a:r>
              <a:rPr sz="1100" b="1" i="0">
                <a:solidFill>
                  <a:srgbClr val="0D1B2A"/>
                </a:solidFill>
                <a:latin typeface="Calibri"/>
              </a:rPr>
              <a:t>4 / 5</a:t>
            </a:r>
          </a:p>
        </p:txBody>
      </p:sp>
      <p:sp>
        <p:nvSpPr>
          <p:cNvPr id="7" name="Rectangle 6"/>
          <p:cNvSpPr/>
          <p:nvPr/>
        </p:nvSpPr>
        <p:spPr>
          <a:xfrm>
            <a:off x="0" y="0"/>
            <a:ext cx="8046720"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804672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182880"/>
            <a:ext cx="7498079" cy="822960"/>
          </a:xfrm>
          <a:prstGeom prst="rect">
            <a:avLst/>
          </a:prstGeom>
          <a:noFill/>
        </p:spPr>
        <p:txBody>
          <a:bodyPr wrap="square">
            <a:spAutoFit/>
          </a:bodyPr>
          <a:lstStyle/>
          <a:p>
            <a:pPr algn="l"/>
            <a:r>
              <a:rPr sz="2600" b="1" i="0">
                <a:solidFill>
                  <a:srgbClr val="FFFFFF"/>
                </a:solidFill>
                <a:latin typeface="Calibri"/>
              </a:rPr>
              <a:t>Refactoring vs. Rebuilding from Scratch</a:t>
            </a:r>
          </a:p>
        </p:txBody>
      </p:sp>
      <p:sp>
        <p:nvSpPr>
          <p:cNvPr id="11" name="Rectangle 10"/>
          <p:cNvSpPr/>
          <p:nvPr/>
        </p:nvSpPr>
        <p:spPr>
          <a:xfrm>
            <a:off x="182880" y="1051560"/>
            <a:ext cx="768096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1170432"/>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170432"/>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371600"/>
            <a:ext cx="365760" cy="411480"/>
          </a:xfrm>
          <a:prstGeom prst="rect">
            <a:avLst/>
          </a:prstGeom>
          <a:noFill/>
        </p:spPr>
        <p:txBody>
          <a:bodyPr wrap="none">
            <a:spAutoFit/>
          </a:bodyPr>
          <a:lstStyle/>
          <a:p>
            <a:pPr algn="ctr"/>
            <a:r>
              <a:rPr sz="1300" b="1">
                <a:solidFill>
                  <a:srgbClr val="00B4D8"/>
                </a:solidFill>
                <a:latin typeface="Calibri"/>
              </a:rPr>
              <a:t>1</a:t>
            </a:r>
          </a:p>
        </p:txBody>
      </p:sp>
      <p:sp>
        <p:nvSpPr>
          <p:cNvPr id="15" name="TextBox 14"/>
          <p:cNvSpPr txBox="1"/>
          <p:nvPr/>
        </p:nvSpPr>
        <p:spPr>
          <a:xfrm>
            <a:off x="749808" y="1298448"/>
            <a:ext cx="7022592" cy="585216"/>
          </a:xfrm>
          <a:prstGeom prst="rect">
            <a:avLst/>
          </a:prstGeom>
          <a:noFill/>
        </p:spPr>
        <p:txBody>
          <a:bodyPr wrap="square">
            <a:spAutoFit/>
          </a:bodyPr>
          <a:lstStyle/>
          <a:p>
            <a:pPr algn="l"/>
            <a:r>
              <a:rPr sz="1400" b="0" i="0">
                <a:solidFill>
                  <a:srgbClr val="FFFFFF"/>
                </a:solidFill>
                <a:latin typeface="Calibri"/>
              </a:rPr>
              <a:t>Refactor when technical debt is manageable and architecture is usable.</a:t>
            </a:r>
          </a:p>
        </p:txBody>
      </p:sp>
      <p:sp>
        <p:nvSpPr>
          <p:cNvPr id="16" name="Rectangle 15"/>
          <p:cNvSpPr/>
          <p:nvPr/>
        </p:nvSpPr>
        <p:spPr>
          <a:xfrm>
            <a:off x="182880" y="2103120"/>
            <a:ext cx="7680960" cy="84124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103120"/>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304288"/>
            <a:ext cx="365760" cy="411480"/>
          </a:xfrm>
          <a:prstGeom prst="rect">
            <a:avLst/>
          </a:prstGeom>
          <a:noFill/>
        </p:spPr>
        <p:txBody>
          <a:bodyPr wrap="none">
            <a:spAutoFit/>
          </a:bodyPr>
          <a:lstStyle/>
          <a:p>
            <a:pPr algn="ctr"/>
            <a:r>
              <a:rPr sz="1300" b="1">
                <a:solidFill>
                  <a:srgbClr val="00B4D8"/>
                </a:solidFill>
                <a:latin typeface="Calibri"/>
              </a:rPr>
              <a:t>2</a:t>
            </a:r>
          </a:p>
        </p:txBody>
      </p:sp>
      <p:sp>
        <p:nvSpPr>
          <p:cNvPr id="19" name="TextBox 18"/>
          <p:cNvSpPr txBox="1"/>
          <p:nvPr/>
        </p:nvSpPr>
        <p:spPr>
          <a:xfrm>
            <a:off x="749808" y="2231136"/>
            <a:ext cx="7022592" cy="585216"/>
          </a:xfrm>
          <a:prstGeom prst="rect">
            <a:avLst/>
          </a:prstGeom>
          <a:noFill/>
        </p:spPr>
        <p:txBody>
          <a:bodyPr wrap="square">
            <a:spAutoFit/>
          </a:bodyPr>
          <a:lstStyle/>
          <a:p>
            <a:pPr algn="l"/>
            <a:r>
              <a:rPr sz="1400" b="0" i="0">
                <a:solidFill>
                  <a:srgbClr val="FFFFFF"/>
                </a:solidFill>
                <a:latin typeface="Calibri"/>
              </a:rPr>
              <a:t>Consider rebuilding for unmanageable debt or poor, unscalable architecture.</a:t>
            </a:r>
          </a:p>
        </p:txBody>
      </p:sp>
      <p:sp>
        <p:nvSpPr>
          <p:cNvPr id="20" name="Rectangle 19"/>
          <p:cNvSpPr/>
          <p:nvPr/>
        </p:nvSpPr>
        <p:spPr>
          <a:xfrm>
            <a:off x="182880" y="3035808"/>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3035808"/>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2608" y="3236976"/>
            <a:ext cx="365760" cy="411480"/>
          </a:xfrm>
          <a:prstGeom prst="rect">
            <a:avLst/>
          </a:prstGeom>
          <a:noFill/>
        </p:spPr>
        <p:txBody>
          <a:bodyPr wrap="none">
            <a:spAutoFit/>
          </a:bodyPr>
          <a:lstStyle/>
          <a:p>
            <a:pPr algn="ctr"/>
            <a:r>
              <a:rPr sz="1300" b="1">
                <a:solidFill>
                  <a:srgbClr val="00B4D8"/>
                </a:solidFill>
                <a:latin typeface="Calibri"/>
              </a:rPr>
              <a:t>3</a:t>
            </a:r>
          </a:p>
        </p:txBody>
      </p:sp>
      <p:sp>
        <p:nvSpPr>
          <p:cNvPr id="23" name="TextBox 22"/>
          <p:cNvSpPr txBox="1"/>
          <p:nvPr/>
        </p:nvSpPr>
        <p:spPr>
          <a:xfrm>
            <a:off x="749808" y="3163824"/>
            <a:ext cx="7022592" cy="585216"/>
          </a:xfrm>
          <a:prstGeom prst="rect">
            <a:avLst/>
          </a:prstGeom>
          <a:noFill/>
        </p:spPr>
        <p:txBody>
          <a:bodyPr wrap="square">
            <a:spAutoFit/>
          </a:bodyPr>
          <a:lstStyle/>
          <a:p>
            <a:pPr algn="l"/>
            <a:r>
              <a:rPr sz="1400" b="0" i="0">
                <a:solidFill>
                  <a:srgbClr val="FFFFFF"/>
                </a:solidFill>
                <a:latin typeface="Calibri"/>
              </a:rPr>
              <a:t>Key factors include performance bottlenecks, lack of testing, and outdated tech stack.</a:t>
            </a:r>
          </a:p>
        </p:txBody>
      </p:sp>
      <p:sp>
        <p:nvSpPr>
          <p:cNvPr id="24" name="Rectangle 23"/>
          <p:cNvSpPr/>
          <p:nvPr/>
        </p:nvSpPr>
        <p:spPr>
          <a:xfrm>
            <a:off x="182880" y="3968496"/>
            <a:ext cx="7680960" cy="84124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2880" y="3968496"/>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4169664"/>
            <a:ext cx="365760" cy="411480"/>
          </a:xfrm>
          <a:prstGeom prst="rect">
            <a:avLst/>
          </a:prstGeom>
          <a:noFill/>
        </p:spPr>
        <p:txBody>
          <a:bodyPr wrap="none">
            <a:spAutoFit/>
          </a:bodyPr>
          <a:lstStyle/>
          <a:p>
            <a:pPr algn="ctr"/>
            <a:r>
              <a:rPr sz="1300" b="1">
                <a:solidFill>
                  <a:srgbClr val="00B4D8"/>
                </a:solidFill>
                <a:latin typeface="Calibri"/>
              </a:rPr>
              <a:t>4</a:t>
            </a:r>
          </a:p>
        </p:txBody>
      </p:sp>
      <p:sp>
        <p:nvSpPr>
          <p:cNvPr id="27" name="TextBox 26"/>
          <p:cNvSpPr txBox="1"/>
          <p:nvPr/>
        </p:nvSpPr>
        <p:spPr>
          <a:xfrm>
            <a:off x="749808" y="4096512"/>
            <a:ext cx="7022592" cy="585216"/>
          </a:xfrm>
          <a:prstGeom prst="rect">
            <a:avLst/>
          </a:prstGeom>
          <a:noFill/>
        </p:spPr>
        <p:txBody>
          <a:bodyPr wrap="square">
            <a:spAutoFit/>
          </a:bodyPr>
          <a:lstStyle/>
          <a:p>
            <a:pPr algn="l"/>
            <a:r>
              <a:rPr sz="1400" b="0" i="0">
                <a:solidFill>
                  <a:srgbClr val="FFFFFF"/>
                </a:solidFill>
                <a:latin typeface="Calibri"/>
              </a:rPr>
              <a:t>Rebuilding risks significant time/cost investment and loss of legacy knowledge.</a:t>
            </a:r>
          </a:p>
        </p:txBody>
      </p:sp>
      <p:sp>
        <p:nvSpPr>
          <p:cNvPr id="28" name="Rectangle 27"/>
          <p:cNvSpPr/>
          <p:nvPr/>
        </p:nvSpPr>
        <p:spPr>
          <a:xfrm>
            <a:off x="0" y="6565392"/>
            <a:ext cx="12188952" cy="29260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2880" y="6583680"/>
            <a:ext cx="7315200" cy="256032"/>
          </a:xfrm>
          <a:prstGeom prst="rect">
            <a:avLst/>
          </a:prstGeom>
          <a:noFill/>
        </p:spPr>
        <p:txBody>
          <a:bodyPr wrap="square">
            <a:spAutoFit/>
          </a:bodyPr>
          <a:lstStyle/>
          <a:p>
            <a:pPr algn="l"/>
            <a:r>
              <a:rPr sz="800" b="0" i="0">
                <a:solidFill>
                  <a:srgbClr val="AABBCC"/>
                </a:solidFill>
                <a:latin typeface="Calibri"/>
              </a:rPr>
              <a:t>REFACTORING VS. REBUILDING FROM SCRATCH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8046720" y="0"/>
            <a:ext cx="4142232" cy="6858000"/>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1097280"/>
            <a:ext cx="3200400" cy="3200400"/>
          </a:xfrm>
          <a:prstGeom prst="ellipse">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78240" y="2194560"/>
            <a:ext cx="2286000" cy="914400"/>
          </a:xfrm>
          <a:prstGeom prst="rect">
            <a:avLst/>
          </a:prstGeom>
          <a:noFill/>
        </p:spPr>
        <p:txBody>
          <a:bodyPr wrap="square">
            <a:spAutoFit/>
          </a:bodyPr>
          <a:lstStyle/>
          <a:p>
            <a:pPr algn="ctr"/>
            <a:r>
              <a:rPr sz="3600" b="1" i="0">
                <a:solidFill>
                  <a:srgbClr val="00B4D8"/>
                </a:solidFill>
                <a:latin typeface="Calibri"/>
              </a:rPr>
              <a:t>◈</a:t>
            </a:r>
          </a:p>
        </p:txBody>
      </p:sp>
      <p:sp>
        <p:nvSpPr>
          <p:cNvPr id="5" name="Rectangle 4"/>
          <p:cNvSpPr/>
          <p:nvPr/>
        </p:nvSpPr>
        <p:spPr>
          <a:xfrm>
            <a:off x="10881360" y="182880"/>
            <a:ext cx="100584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201168"/>
            <a:ext cx="1005840" cy="329184"/>
          </a:xfrm>
          <a:prstGeom prst="rect">
            <a:avLst/>
          </a:prstGeom>
          <a:noFill/>
        </p:spPr>
        <p:txBody>
          <a:bodyPr wrap="square">
            <a:spAutoFit/>
          </a:bodyPr>
          <a:lstStyle/>
          <a:p>
            <a:pPr algn="ctr"/>
            <a:r>
              <a:rPr sz="1100" b="1" i="0">
                <a:solidFill>
                  <a:srgbClr val="0D1B2A"/>
                </a:solidFill>
                <a:latin typeface="Calibri"/>
              </a:rPr>
              <a:t>5 / 5</a:t>
            </a:r>
          </a:p>
        </p:txBody>
      </p:sp>
      <p:sp>
        <p:nvSpPr>
          <p:cNvPr id="7" name="Rectangle 6"/>
          <p:cNvSpPr/>
          <p:nvPr/>
        </p:nvSpPr>
        <p:spPr>
          <a:xfrm>
            <a:off x="0" y="0"/>
            <a:ext cx="8046720"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0"/>
            <a:ext cx="6400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804672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182880"/>
            <a:ext cx="7498079" cy="822960"/>
          </a:xfrm>
          <a:prstGeom prst="rect">
            <a:avLst/>
          </a:prstGeom>
          <a:noFill/>
        </p:spPr>
        <p:txBody>
          <a:bodyPr wrap="square">
            <a:spAutoFit/>
          </a:bodyPr>
          <a:lstStyle/>
          <a:p>
            <a:pPr algn="l"/>
            <a:r>
              <a:rPr sz="2600" b="1" i="0">
                <a:solidFill>
                  <a:srgbClr val="FFFFFF"/>
                </a:solidFill>
                <a:latin typeface="Calibri"/>
              </a:rPr>
              <a:t>Challenges, Strategies, and AI in Refactoring</a:t>
            </a:r>
          </a:p>
        </p:txBody>
      </p:sp>
      <p:sp>
        <p:nvSpPr>
          <p:cNvPr id="11" name="Rectangle 10"/>
          <p:cNvSpPr/>
          <p:nvPr/>
        </p:nvSpPr>
        <p:spPr>
          <a:xfrm>
            <a:off x="182880" y="1051560"/>
            <a:ext cx="768096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1170432"/>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1170432"/>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371600"/>
            <a:ext cx="365760" cy="411480"/>
          </a:xfrm>
          <a:prstGeom prst="rect">
            <a:avLst/>
          </a:prstGeom>
          <a:noFill/>
        </p:spPr>
        <p:txBody>
          <a:bodyPr wrap="none">
            <a:spAutoFit/>
          </a:bodyPr>
          <a:lstStyle/>
          <a:p>
            <a:pPr algn="ctr"/>
            <a:r>
              <a:rPr sz="1300" b="1">
                <a:solidFill>
                  <a:srgbClr val="00B4D8"/>
                </a:solidFill>
                <a:latin typeface="Calibri"/>
              </a:rPr>
              <a:t>1</a:t>
            </a:r>
          </a:p>
        </p:txBody>
      </p:sp>
      <p:sp>
        <p:nvSpPr>
          <p:cNvPr id="15" name="TextBox 14"/>
          <p:cNvSpPr txBox="1"/>
          <p:nvPr/>
        </p:nvSpPr>
        <p:spPr>
          <a:xfrm>
            <a:off x="749808" y="1298448"/>
            <a:ext cx="7022592" cy="585216"/>
          </a:xfrm>
          <a:prstGeom prst="rect">
            <a:avLst/>
          </a:prstGeom>
          <a:noFill/>
        </p:spPr>
        <p:txBody>
          <a:bodyPr wrap="square">
            <a:spAutoFit/>
          </a:bodyPr>
          <a:lstStyle/>
          <a:p>
            <a:pPr algn="l"/>
            <a:r>
              <a:rPr sz="1400" b="0" i="0">
                <a:solidFill>
                  <a:srgbClr val="FFFFFF"/>
                </a:solidFill>
                <a:latin typeface="Calibri"/>
              </a:rPr>
              <a:t>Challenges include limited time, scope creep, legacy code, and introducing new bugs.</a:t>
            </a:r>
          </a:p>
        </p:txBody>
      </p:sp>
      <p:sp>
        <p:nvSpPr>
          <p:cNvPr id="16" name="Rectangle 15"/>
          <p:cNvSpPr/>
          <p:nvPr/>
        </p:nvSpPr>
        <p:spPr>
          <a:xfrm>
            <a:off x="182880" y="2103120"/>
            <a:ext cx="7680960" cy="84124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2103120"/>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304288"/>
            <a:ext cx="365760" cy="411480"/>
          </a:xfrm>
          <a:prstGeom prst="rect">
            <a:avLst/>
          </a:prstGeom>
          <a:noFill/>
        </p:spPr>
        <p:txBody>
          <a:bodyPr wrap="none">
            <a:spAutoFit/>
          </a:bodyPr>
          <a:lstStyle/>
          <a:p>
            <a:pPr algn="ctr"/>
            <a:r>
              <a:rPr sz="1300" b="1">
                <a:solidFill>
                  <a:srgbClr val="00B4D8"/>
                </a:solidFill>
                <a:latin typeface="Calibri"/>
              </a:rPr>
              <a:t>2</a:t>
            </a:r>
          </a:p>
        </p:txBody>
      </p:sp>
      <p:sp>
        <p:nvSpPr>
          <p:cNvPr id="19" name="TextBox 18"/>
          <p:cNvSpPr txBox="1"/>
          <p:nvPr/>
        </p:nvSpPr>
        <p:spPr>
          <a:xfrm>
            <a:off x="749808" y="2231136"/>
            <a:ext cx="7022592" cy="585216"/>
          </a:xfrm>
          <a:prstGeom prst="rect">
            <a:avLst/>
          </a:prstGeom>
          <a:noFill/>
        </p:spPr>
        <p:txBody>
          <a:bodyPr wrap="square">
            <a:spAutoFit/>
          </a:bodyPr>
          <a:lstStyle/>
          <a:p>
            <a:pPr algn="l"/>
            <a:r>
              <a:rPr sz="1400" b="0" i="0">
                <a:solidFill>
                  <a:srgbClr val="FFFFFF"/>
                </a:solidFill>
                <a:latin typeface="Calibri"/>
              </a:rPr>
              <a:t>Effective strategies are crucial for safe and controlled changes.</a:t>
            </a:r>
          </a:p>
        </p:txBody>
      </p:sp>
      <p:sp>
        <p:nvSpPr>
          <p:cNvPr id="20" name="Rectangle 19"/>
          <p:cNvSpPr/>
          <p:nvPr/>
        </p:nvSpPr>
        <p:spPr>
          <a:xfrm>
            <a:off x="182880" y="3035808"/>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3035808"/>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2608" y="3236976"/>
            <a:ext cx="365760" cy="411480"/>
          </a:xfrm>
          <a:prstGeom prst="rect">
            <a:avLst/>
          </a:prstGeom>
          <a:noFill/>
        </p:spPr>
        <p:txBody>
          <a:bodyPr wrap="none">
            <a:spAutoFit/>
          </a:bodyPr>
          <a:lstStyle/>
          <a:p>
            <a:pPr algn="ctr"/>
            <a:r>
              <a:rPr sz="1300" b="1">
                <a:solidFill>
                  <a:srgbClr val="00B4D8"/>
                </a:solidFill>
                <a:latin typeface="Calibri"/>
              </a:rPr>
              <a:t>3</a:t>
            </a:r>
          </a:p>
        </p:txBody>
      </p:sp>
      <p:sp>
        <p:nvSpPr>
          <p:cNvPr id="23" name="TextBox 22"/>
          <p:cNvSpPr txBox="1"/>
          <p:nvPr/>
        </p:nvSpPr>
        <p:spPr>
          <a:xfrm>
            <a:off x="749808" y="3163824"/>
            <a:ext cx="7022592" cy="585216"/>
          </a:xfrm>
          <a:prstGeom prst="rect">
            <a:avLst/>
          </a:prstGeom>
          <a:noFill/>
        </p:spPr>
        <p:txBody>
          <a:bodyPr wrap="square">
            <a:spAutoFit/>
          </a:bodyPr>
          <a:lstStyle/>
          <a:p>
            <a:pPr algn="l"/>
            <a:r>
              <a:rPr sz="1400" b="0" i="0">
                <a:solidFill>
                  <a:srgbClr val="FFFFFF"/>
                </a:solidFill>
                <a:latin typeface="Calibri"/>
              </a:rPr>
              <a:t>Modern tools like SonarQube help detect problems automatically.</a:t>
            </a:r>
          </a:p>
        </p:txBody>
      </p:sp>
      <p:sp>
        <p:nvSpPr>
          <p:cNvPr id="24" name="Rectangle 23"/>
          <p:cNvSpPr/>
          <p:nvPr/>
        </p:nvSpPr>
        <p:spPr>
          <a:xfrm>
            <a:off x="182880" y="3968496"/>
            <a:ext cx="7680960" cy="84124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2880" y="3968496"/>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4169664"/>
            <a:ext cx="365760" cy="411480"/>
          </a:xfrm>
          <a:prstGeom prst="rect">
            <a:avLst/>
          </a:prstGeom>
          <a:noFill/>
        </p:spPr>
        <p:txBody>
          <a:bodyPr wrap="none">
            <a:spAutoFit/>
          </a:bodyPr>
          <a:lstStyle/>
          <a:p>
            <a:pPr algn="ctr"/>
            <a:r>
              <a:rPr sz="1300" b="1">
                <a:solidFill>
                  <a:srgbClr val="00B4D8"/>
                </a:solidFill>
                <a:latin typeface="Calibri"/>
              </a:rPr>
              <a:t>4</a:t>
            </a:r>
          </a:p>
        </p:txBody>
      </p:sp>
      <p:sp>
        <p:nvSpPr>
          <p:cNvPr id="27" name="TextBox 26"/>
          <p:cNvSpPr txBox="1"/>
          <p:nvPr/>
        </p:nvSpPr>
        <p:spPr>
          <a:xfrm>
            <a:off x="749808" y="4096512"/>
            <a:ext cx="7022592" cy="585216"/>
          </a:xfrm>
          <a:prstGeom prst="rect">
            <a:avLst/>
          </a:prstGeom>
          <a:noFill/>
        </p:spPr>
        <p:txBody>
          <a:bodyPr wrap="square">
            <a:spAutoFit/>
          </a:bodyPr>
          <a:lstStyle/>
          <a:p>
            <a:pPr algn="l"/>
            <a:r>
              <a:rPr sz="1400" b="0" i="0">
                <a:solidFill>
                  <a:srgbClr val="FFFFFF"/>
                </a:solidFill>
                <a:latin typeface="Calibri"/>
              </a:rPr>
              <a:t>AI assistants (watsonx, Copilot) suggest code improvements.</a:t>
            </a:r>
          </a:p>
        </p:txBody>
      </p:sp>
      <p:sp>
        <p:nvSpPr>
          <p:cNvPr id="28" name="Rectangle 27"/>
          <p:cNvSpPr/>
          <p:nvPr/>
        </p:nvSpPr>
        <p:spPr>
          <a:xfrm>
            <a:off x="182880" y="4901184"/>
            <a:ext cx="7680960" cy="841248"/>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2880" y="4901184"/>
            <a:ext cx="45720" cy="8412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 y="5102352"/>
            <a:ext cx="365760" cy="411480"/>
          </a:xfrm>
          <a:prstGeom prst="rect">
            <a:avLst/>
          </a:prstGeom>
          <a:noFill/>
        </p:spPr>
        <p:txBody>
          <a:bodyPr wrap="none">
            <a:spAutoFit/>
          </a:bodyPr>
          <a:lstStyle/>
          <a:p>
            <a:pPr algn="ctr"/>
            <a:r>
              <a:rPr sz="1300" b="1">
                <a:solidFill>
                  <a:srgbClr val="00B4D8"/>
                </a:solidFill>
                <a:latin typeface="Calibri"/>
              </a:rPr>
              <a:t>5</a:t>
            </a:r>
          </a:p>
        </p:txBody>
      </p:sp>
      <p:sp>
        <p:nvSpPr>
          <p:cNvPr id="31" name="TextBox 30"/>
          <p:cNvSpPr txBox="1"/>
          <p:nvPr/>
        </p:nvSpPr>
        <p:spPr>
          <a:xfrm>
            <a:off x="749808" y="5029200"/>
            <a:ext cx="7022592" cy="585216"/>
          </a:xfrm>
          <a:prstGeom prst="rect">
            <a:avLst/>
          </a:prstGeom>
          <a:noFill/>
        </p:spPr>
        <p:txBody>
          <a:bodyPr wrap="square">
            <a:spAutoFit/>
          </a:bodyPr>
          <a:lstStyle/>
          <a:p>
            <a:pPr algn="l"/>
            <a:r>
              <a:rPr sz="1400" b="0" i="0">
                <a:solidFill>
                  <a:srgbClr val="FFFFFF"/>
                </a:solidFill>
                <a:latin typeface="Calibri"/>
              </a:rPr>
              <a:t>Essential for long-term code health, reliability, and maintainability.</a:t>
            </a:r>
          </a:p>
        </p:txBody>
      </p:sp>
      <p:sp>
        <p:nvSpPr>
          <p:cNvPr id="32" name="Rectangle 31"/>
          <p:cNvSpPr/>
          <p:nvPr/>
        </p:nvSpPr>
        <p:spPr>
          <a:xfrm>
            <a:off x="0" y="6565392"/>
            <a:ext cx="12188952" cy="292608"/>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2880" y="6583680"/>
            <a:ext cx="7315200" cy="256032"/>
          </a:xfrm>
          <a:prstGeom prst="rect">
            <a:avLst/>
          </a:prstGeom>
          <a:noFill/>
        </p:spPr>
        <p:txBody>
          <a:bodyPr wrap="square">
            <a:spAutoFit/>
          </a:bodyPr>
          <a:lstStyle/>
          <a:p>
            <a:pPr algn="l"/>
            <a:r>
              <a:rPr sz="800" b="0" i="0">
                <a:solidFill>
                  <a:srgbClr val="AABBCC"/>
                </a:solidFill>
                <a:latin typeface="Calibri"/>
              </a:rPr>
              <a:t>CHALLENGES, STRATEGIES, AND AI IN REFACTORING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Diamond 1"/>
          <p:cNvSpPr/>
          <p:nvPr/>
        </p:nvSpPr>
        <p:spPr>
          <a:xfrm>
            <a:off x="10515600" y="-274320"/>
            <a:ext cx="2286000" cy="2286000"/>
          </a:xfrm>
          <a:prstGeom prst="diamond">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80160"/>
          </a:xfrm>
          <a:prstGeom prst="rect">
            <a:avLst/>
          </a:prstGeom>
          <a:solidFill>
            <a:srgbClr val="0A14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0160"/>
            <a:ext cx="12188952"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91440"/>
            <a:ext cx="2743200" cy="365760"/>
          </a:xfrm>
          <a:prstGeom prst="rect">
            <a:avLst/>
          </a:prstGeom>
          <a:noFill/>
        </p:spPr>
        <p:txBody>
          <a:bodyPr wrap="square">
            <a:spAutoFit/>
          </a:bodyPr>
          <a:lstStyle/>
          <a:p>
            <a:pPr algn="l"/>
            <a:r>
              <a:rPr sz="900" b="1" i="0">
                <a:solidFill>
                  <a:srgbClr val="FF6B35"/>
                </a:solidFill>
                <a:latin typeface="Calibri"/>
              </a:rPr>
              <a:t>SUMMARY</a:t>
            </a:r>
          </a:p>
        </p:txBody>
      </p:sp>
      <p:sp>
        <p:nvSpPr>
          <p:cNvPr id="7" name="TextBox 6"/>
          <p:cNvSpPr txBox="1"/>
          <p:nvPr/>
        </p:nvSpPr>
        <p:spPr>
          <a:xfrm>
            <a:off x="228600" y="475488"/>
            <a:ext cx="9144000" cy="685800"/>
          </a:xfrm>
          <a:prstGeom prst="rect">
            <a:avLst/>
          </a:prstGeom>
          <a:noFill/>
        </p:spPr>
        <p:txBody>
          <a:bodyPr wrap="square">
            <a:spAutoFit/>
          </a:bodyPr>
          <a:lstStyle/>
          <a:p>
            <a:pPr algn="l"/>
            <a:r>
              <a:rPr sz="2600" b="1" i="0">
                <a:solidFill>
                  <a:srgbClr val="FFFFFF"/>
                </a:solidFill>
                <a:latin typeface="Calibri"/>
              </a:rPr>
              <a:t>Key Topics Covered</a:t>
            </a:r>
          </a:p>
        </p:txBody>
      </p:sp>
      <p:sp>
        <p:nvSpPr>
          <p:cNvPr id="8" name="Rectangle 7"/>
          <p:cNvSpPr/>
          <p:nvPr/>
        </p:nvSpPr>
        <p:spPr>
          <a:xfrm>
            <a:off x="320040" y="1508760"/>
            <a:ext cx="5577840" cy="1325880"/>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508760"/>
            <a:ext cx="54864" cy="1325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56232"/>
            <a:ext cx="548640" cy="548640"/>
          </a:xfrm>
          <a:prstGeom prst="rect">
            <a:avLst/>
          </a:prstGeom>
          <a:noFill/>
        </p:spPr>
        <p:txBody>
          <a:bodyPr wrap="square">
            <a:spAutoFit/>
          </a:bodyPr>
          <a:lstStyle/>
          <a:p>
            <a:pPr algn="l"/>
            <a:r>
              <a:rPr sz="2000" b="1" i="0">
                <a:solidFill>
                  <a:srgbClr val="00B4D8"/>
                </a:solidFill>
                <a:latin typeface="Calibri"/>
              </a:rPr>
              <a:t>&lt; /&gt;</a:t>
            </a:r>
          </a:p>
        </p:txBody>
      </p:sp>
      <p:sp>
        <p:nvSpPr>
          <p:cNvPr id="11" name="TextBox 10"/>
          <p:cNvSpPr txBox="1"/>
          <p:nvPr/>
        </p:nvSpPr>
        <p:spPr>
          <a:xfrm>
            <a:off x="1097280" y="1600200"/>
            <a:ext cx="457200" cy="365760"/>
          </a:xfrm>
          <a:prstGeom prst="rect">
            <a:avLst/>
          </a:prstGeom>
          <a:noFill/>
        </p:spPr>
        <p:txBody>
          <a:bodyPr wrap="square">
            <a:spAutoFit/>
          </a:bodyPr>
          <a:lstStyle/>
          <a:p>
            <a:pPr algn="l"/>
            <a:r>
              <a:rPr sz="1100" b="1" i="0">
                <a:solidFill>
                  <a:srgbClr val="00B4D8"/>
                </a:solidFill>
                <a:latin typeface="Calibri"/>
              </a:rPr>
              <a:t>01</a:t>
            </a:r>
          </a:p>
        </p:txBody>
      </p:sp>
      <p:sp>
        <p:nvSpPr>
          <p:cNvPr id="12" name="TextBox 11"/>
          <p:cNvSpPr txBox="1"/>
          <p:nvPr/>
        </p:nvSpPr>
        <p:spPr>
          <a:xfrm>
            <a:off x="1097280" y="1947672"/>
            <a:ext cx="4617720" cy="685800"/>
          </a:xfrm>
          <a:prstGeom prst="rect">
            <a:avLst/>
          </a:prstGeom>
          <a:noFill/>
        </p:spPr>
        <p:txBody>
          <a:bodyPr wrap="square">
            <a:spAutoFit/>
          </a:bodyPr>
          <a:lstStyle/>
          <a:p>
            <a:pPr algn="l"/>
            <a:r>
              <a:rPr sz="1300" b="0" i="0">
                <a:solidFill>
                  <a:srgbClr val="FFFFFF"/>
                </a:solidFill>
                <a:latin typeface="Calibri"/>
              </a:rPr>
              <a:t>What is Software Refactoring?</a:t>
            </a:r>
          </a:p>
        </p:txBody>
      </p:sp>
      <p:sp>
        <p:nvSpPr>
          <p:cNvPr id="13" name="Rectangle 12"/>
          <p:cNvSpPr/>
          <p:nvPr/>
        </p:nvSpPr>
        <p:spPr>
          <a:xfrm>
            <a:off x="6172200" y="1508760"/>
            <a:ext cx="5577840" cy="1325880"/>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508760"/>
            <a:ext cx="54864" cy="1325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856232"/>
            <a:ext cx="548640" cy="548640"/>
          </a:xfrm>
          <a:prstGeom prst="rect">
            <a:avLst/>
          </a:prstGeom>
          <a:noFill/>
        </p:spPr>
        <p:txBody>
          <a:bodyPr wrap="square">
            <a:spAutoFit/>
          </a:bodyPr>
          <a:lstStyle/>
          <a:p>
            <a:pPr algn="l"/>
            <a:r>
              <a:rPr sz="2000" b="1" i="0">
                <a:solidFill>
                  <a:srgbClr val="00B4D8"/>
                </a:solidFill>
                <a:latin typeface="Calibri"/>
              </a:rPr>
              <a:t>⚠</a:t>
            </a:r>
          </a:p>
        </p:txBody>
      </p:sp>
      <p:sp>
        <p:nvSpPr>
          <p:cNvPr id="16" name="TextBox 15"/>
          <p:cNvSpPr txBox="1"/>
          <p:nvPr/>
        </p:nvSpPr>
        <p:spPr>
          <a:xfrm>
            <a:off x="6949440" y="1600200"/>
            <a:ext cx="457200" cy="365760"/>
          </a:xfrm>
          <a:prstGeom prst="rect">
            <a:avLst/>
          </a:prstGeom>
          <a:noFill/>
        </p:spPr>
        <p:txBody>
          <a:bodyPr wrap="square">
            <a:spAutoFit/>
          </a:bodyPr>
          <a:lstStyle/>
          <a:p>
            <a:pPr algn="l"/>
            <a:r>
              <a:rPr sz="1100" b="1" i="0">
                <a:solidFill>
                  <a:srgbClr val="00B4D8"/>
                </a:solidFill>
                <a:latin typeface="Calibri"/>
              </a:rPr>
              <a:t>02</a:t>
            </a:r>
          </a:p>
        </p:txBody>
      </p:sp>
      <p:sp>
        <p:nvSpPr>
          <p:cNvPr id="17" name="TextBox 16"/>
          <p:cNvSpPr txBox="1"/>
          <p:nvPr/>
        </p:nvSpPr>
        <p:spPr>
          <a:xfrm>
            <a:off x="6949440" y="1947672"/>
            <a:ext cx="4617720" cy="685800"/>
          </a:xfrm>
          <a:prstGeom prst="rect">
            <a:avLst/>
          </a:prstGeom>
          <a:noFill/>
        </p:spPr>
        <p:txBody>
          <a:bodyPr wrap="square">
            <a:spAutoFit/>
          </a:bodyPr>
          <a:lstStyle/>
          <a:p>
            <a:pPr algn="l"/>
            <a:r>
              <a:rPr sz="1300" b="0" i="0">
                <a:solidFill>
                  <a:srgbClr val="FFFFFF"/>
                </a:solidFill>
                <a:latin typeface="Calibri"/>
              </a:rPr>
              <a:t>The Problem: Technical Debt and Code Smells</a:t>
            </a:r>
          </a:p>
        </p:txBody>
      </p:sp>
      <p:sp>
        <p:nvSpPr>
          <p:cNvPr id="18" name="Rectangle 17"/>
          <p:cNvSpPr/>
          <p:nvPr/>
        </p:nvSpPr>
        <p:spPr>
          <a:xfrm>
            <a:off x="320040" y="2999232"/>
            <a:ext cx="5577840" cy="1325880"/>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2999232"/>
            <a:ext cx="54864" cy="1325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346704"/>
            <a:ext cx="548640" cy="548640"/>
          </a:xfrm>
          <a:prstGeom prst="rect">
            <a:avLst/>
          </a:prstGeom>
          <a:noFill/>
        </p:spPr>
        <p:txBody>
          <a:bodyPr wrap="square">
            <a:spAutoFit/>
          </a:bodyPr>
          <a:lstStyle/>
          <a:p>
            <a:pPr algn="l"/>
            <a:r>
              <a:rPr sz="2000" b="1" i="0">
                <a:solidFill>
                  <a:srgbClr val="00B4D8"/>
                </a:solidFill>
                <a:latin typeface="Calibri"/>
              </a:rPr>
              <a:t>⚙</a:t>
            </a:r>
          </a:p>
        </p:txBody>
      </p:sp>
      <p:sp>
        <p:nvSpPr>
          <p:cNvPr id="21" name="TextBox 20"/>
          <p:cNvSpPr txBox="1"/>
          <p:nvPr/>
        </p:nvSpPr>
        <p:spPr>
          <a:xfrm>
            <a:off x="1097280" y="3090672"/>
            <a:ext cx="457200" cy="365760"/>
          </a:xfrm>
          <a:prstGeom prst="rect">
            <a:avLst/>
          </a:prstGeom>
          <a:noFill/>
        </p:spPr>
        <p:txBody>
          <a:bodyPr wrap="square">
            <a:spAutoFit/>
          </a:bodyPr>
          <a:lstStyle/>
          <a:p>
            <a:pPr algn="l"/>
            <a:r>
              <a:rPr sz="1100" b="1" i="0">
                <a:solidFill>
                  <a:srgbClr val="00B4D8"/>
                </a:solidFill>
                <a:latin typeface="Calibri"/>
              </a:rPr>
              <a:t>03</a:t>
            </a:r>
          </a:p>
        </p:txBody>
      </p:sp>
      <p:sp>
        <p:nvSpPr>
          <p:cNvPr id="22" name="TextBox 21"/>
          <p:cNvSpPr txBox="1"/>
          <p:nvPr/>
        </p:nvSpPr>
        <p:spPr>
          <a:xfrm>
            <a:off x="1097280" y="3438144"/>
            <a:ext cx="4617720" cy="685800"/>
          </a:xfrm>
          <a:prstGeom prst="rect">
            <a:avLst/>
          </a:prstGeom>
          <a:noFill/>
        </p:spPr>
        <p:txBody>
          <a:bodyPr wrap="square">
            <a:spAutoFit/>
          </a:bodyPr>
          <a:lstStyle/>
          <a:p>
            <a:pPr algn="l"/>
            <a:r>
              <a:rPr sz="1300" b="0" i="0">
                <a:solidFill>
                  <a:srgbClr val="FFFFFF"/>
                </a:solidFill>
                <a:latin typeface="Calibri"/>
              </a:rPr>
              <a:t>Key Refactoring Techniques and Practices</a:t>
            </a:r>
          </a:p>
        </p:txBody>
      </p:sp>
      <p:sp>
        <p:nvSpPr>
          <p:cNvPr id="23" name="Rectangle 22"/>
          <p:cNvSpPr/>
          <p:nvPr/>
        </p:nvSpPr>
        <p:spPr>
          <a:xfrm>
            <a:off x="6172200" y="2999232"/>
            <a:ext cx="5577840" cy="1325880"/>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2999232"/>
            <a:ext cx="54864" cy="1325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3346704"/>
            <a:ext cx="548640" cy="548640"/>
          </a:xfrm>
          <a:prstGeom prst="rect">
            <a:avLst/>
          </a:prstGeom>
          <a:noFill/>
        </p:spPr>
        <p:txBody>
          <a:bodyPr wrap="square">
            <a:spAutoFit/>
          </a:bodyPr>
          <a:lstStyle/>
          <a:p>
            <a:pPr algn="l"/>
            <a:r>
              <a:rPr sz="2000" b="1" i="0">
                <a:solidFill>
                  <a:srgbClr val="00B4D8"/>
                </a:solidFill>
                <a:latin typeface="Calibri"/>
              </a:rPr>
              <a:t>↑</a:t>
            </a:r>
          </a:p>
        </p:txBody>
      </p:sp>
      <p:sp>
        <p:nvSpPr>
          <p:cNvPr id="26" name="TextBox 25"/>
          <p:cNvSpPr txBox="1"/>
          <p:nvPr/>
        </p:nvSpPr>
        <p:spPr>
          <a:xfrm>
            <a:off x="6949440" y="3090672"/>
            <a:ext cx="457200" cy="365760"/>
          </a:xfrm>
          <a:prstGeom prst="rect">
            <a:avLst/>
          </a:prstGeom>
          <a:noFill/>
        </p:spPr>
        <p:txBody>
          <a:bodyPr wrap="square">
            <a:spAutoFit/>
          </a:bodyPr>
          <a:lstStyle/>
          <a:p>
            <a:pPr algn="l"/>
            <a:r>
              <a:rPr sz="1100" b="1" i="0">
                <a:solidFill>
                  <a:srgbClr val="00B4D8"/>
                </a:solidFill>
                <a:latin typeface="Calibri"/>
              </a:rPr>
              <a:t>04</a:t>
            </a:r>
          </a:p>
        </p:txBody>
      </p:sp>
      <p:sp>
        <p:nvSpPr>
          <p:cNvPr id="27" name="TextBox 26"/>
          <p:cNvSpPr txBox="1"/>
          <p:nvPr/>
        </p:nvSpPr>
        <p:spPr>
          <a:xfrm>
            <a:off x="6949440" y="3438144"/>
            <a:ext cx="4617720" cy="685800"/>
          </a:xfrm>
          <a:prstGeom prst="rect">
            <a:avLst/>
          </a:prstGeom>
          <a:noFill/>
        </p:spPr>
        <p:txBody>
          <a:bodyPr wrap="square">
            <a:spAutoFit/>
          </a:bodyPr>
          <a:lstStyle/>
          <a:p>
            <a:pPr algn="l"/>
            <a:r>
              <a:rPr sz="1300" b="0" i="0">
                <a:solidFill>
                  <a:srgbClr val="FFFFFF"/>
                </a:solidFill>
                <a:latin typeface="Calibri"/>
              </a:rPr>
              <a:t>Refactoring vs. Rebuilding from Scratch</a:t>
            </a:r>
          </a:p>
        </p:txBody>
      </p:sp>
      <p:sp>
        <p:nvSpPr>
          <p:cNvPr id="28" name="Rectangle 27"/>
          <p:cNvSpPr/>
          <p:nvPr/>
        </p:nvSpPr>
        <p:spPr>
          <a:xfrm>
            <a:off x="320040" y="4489704"/>
            <a:ext cx="5577840" cy="1325880"/>
          </a:xfrm>
          <a:prstGeom prst="rect">
            <a:avLst/>
          </a:prstGeom>
          <a:solidFill>
            <a:srgbClr val="16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4489704"/>
            <a:ext cx="54864" cy="13258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837176"/>
            <a:ext cx="548640" cy="548640"/>
          </a:xfrm>
          <a:prstGeom prst="rect">
            <a:avLst/>
          </a:prstGeom>
          <a:noFill/>
        </p:spPr>
        <p:txBody>
          <a:bodyPr wrap="square">
            <a:spAutoFit/>
          </a:bodyPr>
          <a:lstStyle/>
          <a:p>
            <a:pPr algn="l"/>
            <a:r>
              <a:rPr sz="2000" b="1" i="0">
                <a:solidFill>
                  <a:srgbClr val="00B4D8"/>
                </a:solidFill>
                <a:latin typeface="Calibri"/>
              </a:rPr>
              <a:t>◈</a:t>
            </a:r>
          </a:p>
        </p:txBody>
      </p:sp>
      <p:sp>
        <p:nvSpPr>
          <p:cNvPr id="31" name="TextBox 30"/>
          <p:cNvSpPr txBox="1"/>
          <p:nvPr/>
        </p:nvSpPr>
        <p:spPr>
          <a:xfrm>
            <a:off x="1097280" y="4581144"/>
            <a:ext cx="457200" cy="365760"/>
          </a:xfrm>
          <a:prstGeom prst="rect">
            <a:avLst/>
          </a:prstGeom>
          <a:noFill/>
        </p:spPr>
        <p:txBody>
          <a:bodyPr wrap="square">
            <a:spAutoFit/>
          </a:bodyPr>
          <a:lstStyle/>
          <a:p>
            <a:pPr algn="l"/>
            <a:r>
              <a:rPr sz="1100" b="1" i="0">
                <a:solidFill>
                  <a:srgbClr val="00B4D8"/>
                </a:solidFill>
                <a:latin typeface="Calibri"/>
              </a:rPr>
              <a:t>05</a:t>
            </a:r>
          </a:p>
        </p:txBody>
      </p:sp>
      <p:sp>
        <p:nvSpPr>
          <p:cNvPr id="32" name="TextBox 31"/>
          <p:cNvSpPr txBox="1"/>
          <p:nvPr/>
        </p:nvSpPr>
        <p:spPr>
          <a:xfrm>
            <a:off x="1097280" y="4928616"/>
            <a:ext cx="4617720" cy="685800"/>
          </a:xfrm>
          <a:prstGeom prst="rect">
            <a:avLst/>
          </a:prstGeom>
          <a:noFill/>
        </p:spPr>
        <p:txBody>
          <a:bodyPr wrap="square">
            <a:spAutoFit/>
          </a:bodyPr>
          <a:lstStyle/>
          <a:p>
            <a:pPr algn="l"/>
            <a:r>
              <a:rPr sz="1300" b="0" i="0">
                <a:solidFill>
                  <a:srgbClr val="FFFFFF"/>
                </a:solidFill>
                <a:latin typeface="Calibri"/>
              </a:rPr>
              <a:t>Challenges, Strategies, and AI in Refactoring</a:t>
            </a:r>
          </a:p>
        </p:txBody>
      </p:sp>
      <p:sp>
        <p:nvSpPr>
          <p:cNvPr id="33" name="Rectangle 32"/>
          <p:cNvSpPr/>
          <p:nvPr/>
        </p:nvSpPr>
        <p:spPr>
          <a:xfrm>
            <a:off x="0" y="6565392"/>
            <a:ext cx="12188952"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6583680"/>
            <a:ext cx="9144000" cy="256032"/>
          </a:xfrm>
          <a:prstGeom prst="rect">
            <a:avLst/>
          </a:prstGeom>
          <a:noFill/>
        </p:spPr>
        <p:txBody>
          <a:bodyPr wrap="square">
            <a:spAutoFit/>
          </a:bodyPr>
          <a:lstStyle/>
          <a:p>
            <a:pPr algn="l"/>
            <a:r>
              <a:rPr sz="900" b="0" i="0">
                <a:solidFill>
                  <a:srgbClr val="0D1B2A"/>
                </a:solidFill>
                <a:latin typeface="Calibri"/>
              </a:rPr>
              <a:t>Software Refactoring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